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SUPERSTORE SALES</a:t>
            </a:r>
            <a:br/>
            <a:r>
              <a:t>&amp; PROFITABILITY STORY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Turning 9,994 transaction rows into one business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4231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767328"/>
            <a:ext cx="209397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SALES</a:t>
            </a:r>
          </a:p>
          <a:p>
            <a:pPr>
              <a:defRPr sz="2300" b="1">
                <a:solidFill>
                  <a:srgbClr val="F97316"/>
                </a:solidFill>
              </a:defRPr>
            </a:pPr>
            <a:r>
              <a:t>$2.30M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657600"/>
            <a:ext cx="24231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3767328"/>
            <a:ext cx="209397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PROFIT</a:t>
            </a:r>
          </a:p>
          <a:p>
            <a:pPr>
              <a:defRPr sz="2300" b="1">
                <a:solidFill>
                  <a:srgbClr val="10825F"/>
                </a:solidFill>
              </a:defRPr>
            </a:pPr>
            <a:r>
              <a:t>$286.4K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57600"/>
            <a:ext cx="24231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3767328"/>
            <a:ext cx="209397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MARGIN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12.47%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657600"/>
            <a:ext cx="24231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3767328"/>
            <a:ext cx="209397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QUANTITY</a:t>
            </a:r>
          </a:p>
          <a:p>
            <a:pPr>
              <a:defRPr sz="2300" b="1">
                <a:solidFill>
                  <a:srgbClr val="F97316"/>
                </a:solidFill>
              </a:defRPr>
            </a:pPr>
            <a:r>
              <a:t>37,873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Central question: Where is growth creating value — and where is revenue hiding weak economics?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Ritika Mishra  •  Data Analytics Internship  •  Task 4  |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E"/>
                </a:solidFill>
              </a:defRPr>
            </a:pPr>
            <a:r>
              <a:t>1. The business is growing — but growth is uneven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Executive scorecard from the Tableau Sample Superstore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148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181965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TOTAL SALES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$2.30M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17320"/>
            <a:ext cx="2148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527048"/>
            <a:ext cx="181965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TOTAL PROFIT</a:t>
            </a:r>
          </a:p>
          <a:p>
            <a:pPr>
              <a:defRPr sz="2300" b="1">
                <a:solidFill>
                  <a:srgbClr val="10825F"/>
                </a:solidFill>
              </a:defRPr>
            </a:pPr>
            <a:r>
              <a:t>$286.4K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417320"/>
            <a:ext cx="2148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72" y="1527048"/>
            <a:ext cx="181965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PROFIT MARGIN</a:t>
            </a:r>
          </a:p>
          <a:p>
            <a:pPr>
              <a:defRPr sz="2300" b="1">
                <a:solidFill>
                  <a:srgbClr val="F97316"/>
                </a:solidFill>
              </a:defRPr>
            </a:pPr>
            <a:r>
              <a:t>12.47%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417320"/>
            <a:ext cx="21488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1" y="1527048"/>
            <a:ext cx="181965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CUSTOMERS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793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417320"/>
            <a:ext cx="173736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48672" y="1527048"/>
            <a:ext cx="1408176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ORDERS</a:t>
            </a:r>
          </a:p>
          <a:p>
            <a:pPr>
              <a:defRPr sz="2300" b="1">
                <a:solidFill>
                  <a:srgbClr val="10825F"/>
                </a:solidFill>
              </a:defRPr>
            </a:pPr>
            <a:r>
              <a:t>9,994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• Sales reached $2.30M, with $286.4K in profit — a healthy but not high-margin retail model.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• 2017 was the strongest sales year at $733.2K, 20.4% above 2016.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• Technology contributes 50.8% of total profit, making it the clearest value engine.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</a:defRPr>
            </a:pPr>
            <a:r>
              <a:t>• Furniture generates 32.3% of sales but only 6.4% of profit — the largest profitability gap.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69848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33288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43E"/>
                </a:solidFill>
              </a:defRPr>
            </a:pPr>
            <a:r>
              <a:t>Management implication  →  Protect Technology momentum while fixing Furniture economics rather than chasing sales volume alone.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Ritika Mishra  •  Data Analytics Internship  •  Task 4  |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E"/>
                </a:solidFill>
              </a:defRPr>
            </a:pPr>
            <a:r>
              <a:t>2. Growth accelerated into 2017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Sales increased 51.4% from 2014 to 2017</a:t>
            </a:r>
          </a:p>
        </p:txBody>
      </p:sp>
      <p:pic>
        <p:nvPicPr>
          <p:cNvPr id="5" name="Picture 4" descr="annu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06640" cy="3277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554480"/>
            <a:ext cx="3291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THE SIGNAL</a:t>
            </a:r>
          </a:p>
          <a:p>
            <a:pPr>
              <a:defRPr sz="3800" b="1">
                <a:solidFill>
                  <a:srgbClr val="14243E"/>
                </a:solidFill>
              </a:defRPr>
            </a:pPr>
            <a:r>
              <a:t>+20.4%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2017 sales growth vs. 2016</a:t>
            </a:r>
          </a:p>
          <a:p>
            <a:pPr>
              <a:defRPr sz="1600" b="1">
                <a:solidFill>
                  <a:srgbClr val="10825F"/>
                </a:solidFill>
              </a:defRPr>
            </a:pPr>
            <a:r>
              <a:t>2017 sales: $733.2K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The growth story is real. The next question is whether the mix of products and regions producing that growth is equally attractive.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Ritika Mishra  •  Data Analytics Internship  •  Task 4  |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E"/>
                </a:solidFill>
              </a:defRPr>
            </a:pPr>
            <a:r>
              <a:t>3. Technology pays the bills; Furniture needs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Sales mix and profit contribution tell different stories</a:t>
            </a:r>
          </a:p>
        </p:txBody>
      </p:sp>
      <p:pic>
        <p:nvPicPr>
          <p:cNvPr id="5" name="Picture 4" descr="category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949440" cy="3076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5087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• Technology: $836.2K sales and $145.5K profit — 50.8% of total profit.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• Office Supplies: $719.0K sales and $122.5K profit — 42.8% of total profit.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• Furniture: $742.0K sales but only $18.5K profit — just 6.4% of total profit.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• Furniture’s 2.5% category margin is the clearest portfolio weakness.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5394960"/>
            <a:ext cx="3520440" cy="7315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553212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E3737"/>
                </a:solidFill>
              </a:defRPr>
            </a:pPr>
            <a:r>
              <a:t>Action: review Furniture pricing, discounting and sourcing by sub-category.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Ritika Mishra  •  Data Analytics Internship  •  Task 4  |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E"/>
                </a:solidFill>
              </a:defRPr>
            </a:pPr>
            <a:r>
              <a:t>4. West leads; Central has a specific profitability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Regional performance becomes more useful when paired with category economics</a:t>
            </a:r>
          </a:p>
        </p:txBody>
      </p:sp>
      <p:pic>
        <p:nvPicPr>
          <p:cNvPr id="5" name="Picture 4" descr="region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486400" cy="2435306"/>
          </a:xfrm>
          <a:prstGeom prst="rect">
            <a:avLst/>
          </a:prstGeom>
        </p:spPr>
      </p:pic>
      <p:pic>
        <p:nvPicPr>
          <p:cNvPr id="6" name="Picture 5" descr="region_category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86400" cy="2595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43E"/>
                </a:solidFill>
              </a:defRPr>
            </a:pPr>
            <a:r>
              <a:t>Key finding: Central Furniture is loss-making (−$2.9K), while West Furniture remains profitable (+$11.5K). This suggests the issue is not simply the category — execution varies by 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Ritika Mishra  •  Data Analytics Internship  •  Task 4  |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3E"/>
                </a:solidFill>
              </a:defRPr>
            </a:pPr>
            <a:r>
              <a:t>5. From insight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 focused 90-day plan for profitable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914400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6362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99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E"/>
                </a:solidFill>
              </a:defRPr>
            </a:pPr>
            <a:r>
              <a:t>Protect the profit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399032"/>
            <a:ext cx="6583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Keep Technology well-stocked; replicate the West/East playbook in underperforming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914400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1518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505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E"/>
                </a:solidFill>
              </a:defRPr>
            </a:pPr>
            <a:r>
              <a:t>Fix Furniture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50592"/>
            <a:ext cx="6583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Audit Furniture by sub-category, discount band, supplier and region; prioritize Central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914400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6674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021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E"/>
                </a:solidFill>
              </a:defRPr>
            </a:pPr>
            <a:r>
              <a:t>Manage discounts by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02152"/>
            <a:ext cx="6583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Set approval thresholds for high-discount orders and track profit impact, not just sales lift.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914400" cy="65836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1830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5537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43E"/>
                </a:solidFill>
              </a:defRPr>
            </a:pPr>
            <a:r>
              <a:t>Build a decision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53712"/>
            <a:ext cx="6583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Track Sales, Profit, Margin, Region, Category and Discount with drill-downs for weekly management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715000"/>
            <a:ext cx="10698480" cy="50292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15584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825F"/>
                </a:solidFill>
              </a:defRPr>
            </a:pPr>
            <a:r>
              <a:t>Decision principle: optimize for profitable growth — not revenue growth alone.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562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Ritika Mishra  •  Data Analytics Internship  •  Task 4  |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